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97BC62"/>
                </a:solidFill>
                <a:latin typeface="Calibri"/>
              </a:rPr>
              <a:t>TEACHBACK · TRACK D3 — HỌC TẬP THÍCH ỨNG &amp; TƯƠNG TÁC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FFFFFF"/>
                </a:solidFill>
                <a:latin typeface="Cambria"/>
              </a:rPr>
              <a:t>Học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xong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quiz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đúng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—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nhưng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có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thực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sự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mbria"/>
              </a:rPr>
              <a:t>hiểu</a:t>
            </a:r>
            <a:r>
              <a:rPr sz="3200" b="1" i="0" dirty="0">
                <a:solidFill>
                  <a:srgbClr val="FFFFFF"/>
                </a:solidFill>
                <a:latin typeface="Cambria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75895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 dirty="0">
                <a:solidFill>
                  <a:srgbClr val="97BC62"/>
                </a:solidFill>
                <a:latin typeface="Calibri"/>
              </a:rPr>
              <a:t>Job executor: 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học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viên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AI in Action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vừa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học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xong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một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phần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bài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giảng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(</a:t>
            </a:r>
            <a:r>
              <a:rPr sz="1350" b="0" i="0" dirty="0" err="1">
                <a:solidFill>
                  <a:srgbClr val="D9E8DC"/>
                </a:solidFill>
                <a:latin typeface="Calibri"/>
              </a:rPr>
              <a:t>buổi</a:t>
            </a:r>
            <a:r>
              <a:rPr sz="1350" b="0" i="0" dirty="0">
                <a:solidFill>
                  <a:srgbClr val="D9E8DC"/>
                </a:solidFill>
                <a:latin typeface="Calibri"/>
              </a:rPr>
              <a:t> Foundation Day 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80360"/>
            <a:ext cx="7589520" cy="141732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3035808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 dirty="0">
                <a:solidFill>
                  <a:srgbClr val="FFFFFF"/>
                </a:solidFill>
                <a:latin typeface="Cambria"/>
              </a:rPr>
              <a:t>“Khi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vừa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học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xong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một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khái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niệm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,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tôi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muốn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thử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giải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thích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nó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bằng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lời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của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mình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và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nhận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ra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chỗ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còn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thiếu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hoặc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sai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,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để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biết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cần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ôn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gì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trước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khi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áp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 </a:t>
            </a:r>
            <a:r>
              <a:rPr sz="1600" b="0" i="1" dirty="0" err="1">
                <a:solidFill>
                  <a:srgbClr val="FFFFFF"/>
                </a:solidFill>
                <a:latin typeface="Cambria"/>
              </a:rPr>
              <a:t>dụng</a:t>
            </a:r>
            <a:r>
              <a:rPr sz="1600" b="0" i="1" dirty="0">
                <a:solidFill>
                  <a:srgbClr val="FFFFFF"/>
                </a:solidFill>
                <a:latin typeface="Cambria"/>
              </a:rPr>
              <a:t>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777240"/>
            <a:ext cx="3200400" cy="169164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0" y="896112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E8A33D"/>
                </a:solidFill>
                <a:latin typeface="Cambria"/>
              </a:rPr>
              <a:t>0,15%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36192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D9E8DC"/>
                </a:solidFill>
                <a:latin typeface="Calibri"/>
              </a:rPr>
              <a:t>lượt tutor có gắn nhãn understanding_level (20 / 13.494 lượt)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2651760"/>
            <a:ext cx="3200400" cy="169164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0" y="2770632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E8A33D"/>
                </a:solidFill>
                <a:latin typeface="Cambria"/>
              </a:rPr>
              <a:t>0,21%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10712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D9E8DC"/>
                </a:solidFill>
                <a:latin typeface="Calibri"/>
              </a:rPr>
              <a:t>lượt tutor chủ động hỏi gợi mở, move_used = ask_probing_question (28 / 13.494)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3484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6B8F71"/>
                </a:solidFill>
                <a:latin typeface="Calibri"/>
              </a:rPr>
              <a:t>Nguồn: đếm trên data/vlearn-pack/chatlog/tutor_turns.csv — tái lập được, xem spec.md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Chọn đúng đáp án quiz — nhưng chưa chắc đã hiểu trọn cơ chế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7492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2A4D37"/>
          </a:solidFill>
          <a:ln w="9525">
            <a:solidFill>
              <a:srgbClr val="6B8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518464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A33D"/>
                </a:solidFill>
                <a:latin typeface="Calibri"/>
              </a:rPr>
              <a:t>Khảo sát VLearn — 25 HV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58968"/>
            <a:ext cx="2880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“Chọn đúng nhưng chỉ đoán theo cảm tính”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4476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D9E8DC"/>
                </a:solidFill>
                <a:latin typeface="Calibri"/>
              </a:rPr>
              <a:t>Quiz — chọn đúng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5074920"/>
            <a:ext cx="32004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97BC6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507492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2A4D37"/>
          </a:solidFill>
          <a:ln w="9525">
            <a:solidFill>
              <a:srgbClr val="6B8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0" y="518464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A33D"/>
                </a:solidFill>
                <a:latin typeface="Calibri"/>
              </a:rPr>
              <a:t>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458968"/>
            <a:ext cx="2880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chỉ giải thích được “một phần” cơ chế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14476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D9E8DC"/>
                </a:solidFill>
                <a:latin typeface="Calibri"/>
              </a:rPr>
              <a:t>Chưa hiểu trọn cơ chế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5074920"/>
            <a:ext cx="32004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97BC62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507492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2A4D37"/>
          </a:solidFill>
          <a:ln w="9525">
            <a:solidFill>
              <a:srgbClr val="6B8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0" y="518464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A33D"/>
                </a:solidFill>
                <a:latin typeface="Calibr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458968"/>
            <a:ext cx="2880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nghĩ sẽ hiểu chắc hơn nếu phải dạy lại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6144768"/>
            <a:ext cx="2880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D9E8DC"/>
                </a:solidFill>
                <a:latin typeface="Calibri"/>
              </a:rPr>
              <a:t>Ủng hộ ý tưởng dạy lại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67393" y="519083"/>
            <a:ext cx="2363893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1F2A24"/>
                </a:solidFill>
                <a:latin typeface="Cambria"/>
              </a:rPr>
              <a:t>Vì</a:t>
            </a:r>
            <a:r>
              <a:rPr sz="30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3000" b="1" i="0" dirty="0" err="1">
                <a:solidFill>
                  <a:srgbClr val="1F2A24"/>
                </a:solidFill>
                <a:latin typeface="Cambria"/>
              </a:rPr>
              <a:t>sao</a:t>
            </a:r>
            <a:r>
              <a:rPr sz="30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3000" b="1" i="0" dirty="0" err="1">
                <a:solidFill>
                  <a:srgbClr val="1F2A24"/>
                </a:solidFill>
                <a:latin typeface="Cambria"/>
              </a:rPr>
              <a:t>chọn</a:t>
            </a:r>
            <a:r>
              <a:rPr sz="3000" b="1" i="0" dirty="0">
                <a:solidFill>
                  <a:srgbClr val="1F2A24"/>
                </a:solidFill>
                <a:latin typeface="Cambria"/>
              </a:rPr>
              <a:t>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611880" cy="4160520"/>
          </a:xfrm>
          <a:prstGeom prst="roundRect">
            <a:avLst>
              <a:gd name="adj" fmla="val 900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F3D2B"/>
                </a:solidFill>
                <a:latin typeface="Cambria"/>
              </a:rPr>
              <a:t>Temperature &amp; Sampling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7A1E"/>
                </a:solidFill>
                <a:latin typeface="Calibri"/>
              </a:rPr>
              <a:t>38 người / 50 lượt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5635A"/>
                </a:solidFill>
                <a:latin typeface="Calibri"/>
              </a:rPr>
              <a:t>K4: 26 lượt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315468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5635A"/>
                </a:solidFill>
                <a:latin typeface="Calibri"/>
              </a:rPr>
              <a:t>Có thể giới hạn phạm vi kiểm bằng checklist 5 tiêu chí rõ ràng + sẵn 1 quiz thật trong data (T04-071–072).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611880" cy="4160520"/>
          </a:xfrm>
          <a:prstGeom prst="roundRect">
            <a:avLst>
              <a:gd name="adj" fmla="val 9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37744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F2A24"/>
                </a:solidFill>
                <a:latin typeface="Cambria"/>
              </a:rPr>
              <a:t>Attention / Self-attention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A7A75"/>
                </a:solidFill>
                <a:latin typeface="Calibri"/>
              </a:rPr>
              <a:t>54 người / 72 lượt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204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5635A"/>
                </a:solidFill>
                <a:latin typeface="Calibri"/>
              </a:rPr>
              <a:t>K4: 14 lượt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77639"/>
            <a:ext cx="315468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5635A"/>
                </a:solidFill>
                <a:latin typeface="Calibri"/>
              </a:rPr>
              <a:t>Loại: khái niệm trừu tượng, khó chấm “đạt” rõ ràng trong một phiên ngắn.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00200"/>
            <a:ext cx="3611880" cy="4160520"/>
          </a:xfrm>
          <a:prstGeom prst="roundRect">
            <a:avLst>
              <a:gd name="adj" fmla="val 9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F2A24"/>
                </a:solidFill>
                <a:latin typeface="Cambria"/>
              </a:rPr>
              <a:t>Hallucination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72968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A7A75"/>
                </a:solidFill>
                <a:latin typeface="Calibri"/>
              </a:rPr>
              <a:t>35 người / 38 lượt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5204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5635A"/>
                </a:solidFill>
                <a:latin typeface="Calibri"/>
              </a:rPr>
              <a:t>K4: 9 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77639"/>
            <a:ext cx="315468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5635A"/>
                </a:solidFill>
                <a:latin typeface="Calibri"/>
              </a:rPr>
              <a:t>Loại: dễ lấn sang phạm vi kiểm chứng ngoài bài, trùng ví dụ mẫu sẵn có trong đề D3.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943600"/>
            <a:ext cx="11064240" cy="59436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F2A24"/>
                </a:solidFill>
                <a:latin typeface="Cambria"/>
              </a:rPr>
              <a:t>Giải pháp: TeachBack cùng “Mầm”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1">
                <a:solidFill>
                  <a:srgbClr val="1F3D2B"/>
                </a:solidFill>
                <a:latin typeface="Cambria"/>
              </a:rPr>
              <a:t>Học viên dạy lại một khái niệm cho “Mầm” → Mầm so khớp lời giải thích với checklist tiêu chí soạn sẵn cho khái niệm đó → xác nhận “đã dạy được”, hoặc hỏi ngược đúng chỗ còn thiếu mà không lộ đáp án.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6B8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9456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55635A"/>
                </a:solidFill>
                <a:latin typeface="Calibri"/>
              </a:rPr>
              <a:t>Báo đạt sai → tự tin sai (đắt)  ·  báo thiếu sai → tốn lượt (rẻ hơn)  →  người học luôn là người quyết định ôn lại.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28620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24"/>
                </a:solidFill>
                <a:latin typeface="Cambria"/>
              </a:rPr>
              <a:t>Dạy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7288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Học viên giải thích bằng lời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07208"/>
            <a:ext cx="320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97BC62"/>
                </a:solidFill>
                <a:latin typeface="Calibri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337560" y="2880360"/>
            <a:ext cx="502920" cy="502920"/>
          </a:xfrm>
          <a:prstGeom prst="ellipse">
            <a:avLst/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8620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24"/>
                </a:solidFill>
                <a:latin typeface="Cambria"/>
              </a:rPr>
              <a:t>So khớp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447288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Đối chiếu checklist tiêu chí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07208"/>
            <a:ext cx="320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97BC62"/>
                </a:solidFill>
                <a:latin typeface="Calibri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6126480" y="2880360"/>
            <a:ext cx="502920" cy="502920"/>
          </a:xfrm>
          <a:prstGeom prst="ellipse">
            <a:avLst/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0" y="28803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8620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24"/>
                </a:solidFill>
                <a:latin typeface="Cambria"/>
              </a:rPr>
              <a:t>Đủ ý?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447288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Đủ → xác nhận. Thiếu → hỏi lại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807208"/>
            <a:ext cx="320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97BC62"/>
                </a:solidFill>
                <a:latin typeface="Calibri"/>
              </a:rPr>
              <a:t>→</a:t>
            </a:r>
          </a:p>
        </p:txBody>
      </p:sp>
      <p:sp>
        <p:nvSpPr>
          <p:cNvPr id="23" name="Oval 22"/>
          <p:cNvSpPr/>
          <p:nvPr/>
        </p:nvSpPr>
        <p:spPr>
          <a:xfrm>
            <a:off x="8915400" y="2880360"/>
            <a:ext cx="502920" cy="502920"/>
          </a:xfrm>
          <a:prstGeom prst="ellipse">
            <a:avLst/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15400" y="28803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8620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24"/>
                </a:solidFill>
                <a:latin typeface="Cambria"/>
              </a:rPr>
              <a:t>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447288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Ghi ý đạt ngay / đạt sau gợi mở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4340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7A7A75"/>
                </a:solidFill>
                <a:latin typeface="Calibri"/>
              </a:rPr>
              <a:t>Quá 3 lượt hỏi vẫn thiếu → dừng, gợi ý đoạn tài liệu nên xem lại (không hỏi vô hạn)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0060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2A24"/>
                </a:solidFill>
                <a:latin typeface="Cambria"/>
              </a:rPr>
              <a:t>Demo trực tiếp — 2 case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212080"/>
            <a:ext cx="5440680" cy="1234440"/>
          </a:xfrm>
          <a:prstGeom prst="roundRect">
            <a:avLst>
              <a:gd name="adj" fmla="val 7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534924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6B8F71"/>
                </a:solidFill>
                <a:latin typeface="Calibri"/>
              </a:rPr>
              <a:t>CASE CHUẨN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59612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F2A24"/>
                </a:solidFill>
                <a:latin typeface="Cambria"/>
              </a:rPr>
              <a:t>Happy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897880"/>
            <a:ext cx="4983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Giải thích đủ 5 ý → Mầm xác nhận “À, mình hiểu rồi!” → trạng thái completed.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5212080"/>
            <a:ext cx="5440680" cy="1234440"/>
          </a:xfrm>
          <a:prstGeom prst="roundRect">
            <a:avLst>
              <a:gd name="adj" fmla="val 7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87A1E"/>
                </a:solidFill>
                <a:latin typeface="Calibri"/>
              </a:rPr>
              <a:t>CASE CHỖ KHÓ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9612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F2A24"/>
                </a:solidFill>
                <a:latin typeface="Cambria"/>
              </a:rPr>
              <a:t>Thiếu cơ chế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897880"/>
            <a:ext cx="4983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35A"/>
                </a:solidFill>
                <a:latin typeface="Calibri"/>
              </a:rPr>
              <a:t>Chỉ nói “temperature là độ sáng tạo” → hệ thống phát hiện thiếu, hỏi đúng 1 câu — không lộ đáp án.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F2A24"/>
                </a:solidFill>
                <a:latin typeface="Cambria"/>
              </a:rPr>
              <a:t>Kết quả đo trên Golden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A24"/>
                </a:solidFill>
                <a:latin typeface="Calibri"/>
              </a:rPr>
              <a:t>Quality bar (cam kết)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025395"/>
            <a:ext cx="4150360" cy="384048"/>
          </a:xfrm>
          <a:prstGeom prst="roundRect">
            <a:avLst>
              <a:gd name="adj" fmla="val 50000"/>
            </a:avLst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038344" y="2131664"/>
            <a:ext cx="10972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00" b="1" dirty="0">
                <a:solidFill>
                  <a:srgbClr val="1F2A24"/>
                </a:solidFill>
                <a:latin typeface="Calibri"/>
              </a:rPr>
              <a:t>8</a:t>
            </a:r>
            <a:r>
              <a:rPr sz="1300" b="1" i="0" dirty="0">
                <a:solidFill>
                  <a:srgbClr val="1F2A24"/>
                </a:solidFill>
                <a:latin typeface="Calibr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A24"/>
                </a:solidFill>
                <a:latin typeface="Calibri"/>
              </a:rPr>
              <a:t>Kết quả mới nhất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3076956"/>
            <a:ext cx="4352544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38344" y="301752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24"/>
                </a:solidFill>
                <a:latin typeface="Calibri"/>
              </a:rPr>
              <a:t>85%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120640" cy="777240"/>
          </a:xfrm>
          <a:prstGeom prst="roundRect">
            <a:avLst>
              <a:gd name="adj" fmla="val 700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273480"/>
            <a:ext cx="46634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>
                <a:solidFill>
                  <a:srgbClr val="B87A1E"/>
                </a:solidFill>
                <a:latin typeface="Calibri"/>
              </a:rPr>
              <a:t>17/20 (85%)  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—</a:t>
            </a:r>
            <a:r>
              <a:rPr lang="en-US" sz="1250" b="0" i="0" dirty="0">
                <a:solidFill>
                  <a:srgbClr val="1F2A2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F2A24"/>
                </a:solidFill>
                <a:latin typeface="Calibri"/>
              </a:rPr>
              <a:t>đạt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F2A24"/>
                </a:solidFill>
                <a:latin typeface="Calibri"/>
              </a:rPr>
              <a:t>mốc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 1</a:t>
            </a:r>
            <a:r>
              <a:rPr lang="en-US" sz="1250" b="0" i="0" dirty="0">
                <a:solidFill>
                  <a:srgbClr val="1F2A24"/>
                </a:solidFill>
                <a:latin typeface="Calibri"/>
              </a:rPr>
              <a:t>6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/20 (</a:t>
            </a:r>
            <a:r>
              <a:rPr lang="en-US" sz="1250" b="0" i="0" dirty="0">
                <a:solidFill>
                  <a:srgbClr val="1F2A24"/>
                </a:solidFill>
                <a:latin typeface="Calibri"/>
              </a:rPr>
              <a:t>8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0%) </a:t>
            </a:r>
            <a:r>
              <a:rPr sz="1250" b="0" i="0" dirty="0" err="1">
                <a:solidFill>
                  <a:srgbClr val="1F2A24"/>
                </a:solidFill>
                <a:latin typeface="Calibri"/>
              </a:rPr>
              <a:t>đã</a:t>
            </a:r>
            <a:r>
              <a:rPr sz="1250" b="0" i="0" dirty="0">
                <a:solidFill>
                  <a:srgbClr val="1F2A24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F2A24"/>
                </a:solidFill>
                <a:latin typeface="Calibri"/>
              </a:rPr>
              <a:t>chốt</a:t>
            </a:r>
            <a:endParaRPr sz="1250" b="0" i="0" dirty="0">
              <a:solidFill>
                <a:srgbClr val="1F2A24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48640" y="5074920"/>
            <a:ext cx="5120640" cy="1051560"/>
          </a:xfrm>
          <a:prstGeom prst="roundRect">
            <a:avLst>
              <a:gd name="adj" fmla="val 7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 dirty="0">
                <a:solidFill>
                  <a:srgbClr val="E8A33D"/>
                </a:solidFill>
                <a:latin typeface="Calibri"/>
              </a:rPr>
              <a:t>37/37 (100%)  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test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kỹ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thuật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— logic/rubric/HTTP/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tiến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độ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dùng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model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giả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lập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không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9E8DC"/>
                </a:solidFill>
                <a:latin typeface="Calibri"/>
              </a:rPr>
              <a:t>đo</a:t>
            </a:r>
            <a:r>
              <a:rPr sz="1100" b="0" i="0" dirty="0">
                <a:solidFill>
                  <a:srgbClr val="D9E8DC"/>
                </a:solidFill>
                <a:latin typeface="Calibri"/>
              </a:rPr>
              <a:t> AI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645920"/>
            <a:ext cx="5669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1F2A24"/>
                </a:solidFill>
                <a:latin typeface="Cambria"/>
              </a:rPr>
              <a:t>Failure </a:t>
            </a:r>
            <a:r>
              <a:rPr sz="1500" b="1" i="0" dirty="0" err="1">
                <a:solidFill>
                  <a:srgbClr val="1F2A24"/>
                </a:solidFill>
                <a:latin typeface="Cambria"/>
              </a:rPr>
              <a:t>đáng</a:t>
            </a:r>
            <a:r>
              <a:rPr sz="15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1500" b="1" i="0" dirty="0" err="1">
                <a:solidFill>
                  <a:srgbClr val="1F2A24"/>
                </a:solidFill>
                <a:latin typeface="Cambria"/>
              </a:rPr>
              <a:t>kể</a:t>
            </a:r>
            <a:r>
              <a:rPr sz="15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1500" b="1" i="0" dirty="0" err="1">
                <a:solidFill>
                  <a:srgbClr val="1F2A24"/>
                </a:solidFill>
                <a:latin typeface="Cambria"/>
              </a:rPr>
              <a:t>nhất</a:t>
            </a:r>
            <a:endParaRPr sz="1500" b="1" i="0" dirty="0">
              <a:solidFill>
                <a:srgbClr val="1F2A24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989320" y="224028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235000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84B3E"/>
                </a:solidFill>
                <a:latin typeface="Calibri"/>
              </a:rPr>
              <a:t>G06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62432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 err="1">
                <a:solidFill>
                  <a:srgbClr val="55635A"/>
                </a:solidFill>
                <a:latin typeface="Calibri"/>
              </a:rPr>
              <a:t>Bỏ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sót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tiêu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chí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“definition”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khi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câu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trả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lời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gộp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nhiều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ý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trong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một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lượt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29184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40156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84B3E"/>
                </a:solidFill>
                <a:latin typeface="Calibri"/>
              </a:rPr>
              <a:t>G07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7588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55635A"/>
                </a:solidFill>
                <a:latin typeface="Calibri"/>
              </a:rPr>
              <a:t>Evaluator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trả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lỗi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cấu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trúc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sau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1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lần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retry;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chưa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có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raw response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để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xác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định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field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cụ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55635A"/>
                </a:solidFill>
                <a:latin typeface="Calibri"/>
              </a:rPr>
              <a:t>thể</a:t>
            </a:r>
            <a:r>
              <a:rPr sz="1150" b="0" i="0" dirty="0">
                <a:solidFill>
                  <a:srgbClr val="55635A"/>
                </a:solidFill>
                <a:latin typeface="Calibri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4343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445312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84B3E"/>
                </a:solidFill>
                <a:latin typeface="Calibri"/>
              </a:rPr>
              <a:t>G12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72744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5635A"/>
                </a:solidFill>
                <a:latin typeface="Calibri"/>
              </a:rPr>
              <a:t>Nhận lượt sửa sai nhưng chưa luôn thay thế đúng ý sai cũ (“low” vẫn giữ incorrect).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 err="1">
                <a:solidFill>
                  <a:srgbClr val="1F2A24"/>
                </a:solidFill>
                <a:latin typeface="Cambria"/>
              </a:rPr>
              <a:t>Chưa</a:t>
            </a:r>
            <a:r>
              <a:rPr sz="28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2800" b="1" i="0" dirty="0" err="1">
                <a:solidFill>
                  <a:srgbClr val="1F2A24"/>
                </a:solidFill>
                <a:latin typeface="Cambria"/>
              </a:rPr>
              <a:t>có</a:t>
            </a:r>
            <a:r>
              <a:rPr sz="28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2800" b="1" i="0" dirty="0" err="1">
                <a:solidFill>
                  <a:srgbClr val="1F2A24"/>
                </a:solidFill>
                <a:latin typeface="Cambria"/>
              </a:rPr>
              <a:t>vòng</a:t>
            </a:r>
            <a:r>
              <a:rPr sz="2800" b="1" i="0" dirty="0">
                <a:solidFill>
                  <a:srgbClr val="1F2A24"/>
                </a:solidFill>
                <a:latin typeface="Cambria"/>
              </a:rPr>
              <a:t> validation </a:t>
            </a:r>
            <a:r>
              <a:rPr sz="2800" b="1" i="0" dirty="0" err="1">
                <a:solidFill>
                  <a:srgbClr val="1F2A24"/>
                </a:solidFill>
                <a:latin typeface="Cambria"/>
              </a:rPr>
              <a:t>người</a:t>
            </a:r>
            <a:r>
              <a:rPr sz="28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2800" b="1" i="0" dirty="0" err="1">
                <a:solidFill>
                  <a:srgbClr val="1F2A24"/>
                </a:solidFill>
                <a:latin typeface="Cambria"/>
              </a:rPr>
              <a:t>dùng</a:t>
            </a:r>
            <a:r>
              <a:rPr sz="2800" b="1" i="0" dirty="0">
                <a:solidFill>
                  <a:srgbClr val="1F2A24"/>
                </a:solidFill>
                <a:latin typeface="Cambria"/>
              </a:rPr>
              <a:t> </a:t>
            </a:r>
            <a:r>
              <a:rPr sz="2800" b="1" i="0" dirty="0" err="1">
                <a:solidFill>
                  <a:srgbClr val="1F2A24"/>
                </a:solidFill>
                <a:latin typeface="Cambria"/>
              </a:rPr>
              <a:t>thật</a:t>
            </a:r>
            <a:endParaRPr sz="2800" b="1" i="0" dirty="0">
              <a:solidFill>
                <a:srgbClr val="1F2A24"/>
              </a:solidFill>
              <a:latin typeface="Cambr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 dirty="0" err="1">
                <a:solidFill>
                  <a:srgbClr val="55635A"/>
                </a:solidFill>
                <a:latin typeface="Calibri"/>
              </a:rPr>
              <a:t>Nhóm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thay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bằng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kết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quả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đo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trên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Golden Set: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đạt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/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không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đạt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quality bar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và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vì</a:t>
            </a:r>
            <a:r>
              <a:rPr sz="1350" b="0" i="1" dirty="0">
                <a:solidFill>
                  <a:srgbClr val="55635A"/>
                </a:solidFill>
                <a:latin typeface="Calibri"/>
              </a:rPr>
              <a:t> </a:t>
            </a:r>
            <a:r>
              <a:rPr sz="1350" b="0" i="1" dirty="0" err="1">
                <a:solidFill>
                  <a:srgbClr val="55635A"/>
                </a:solidFill>
                <a:latin typeface="Calibri"/>
              </a:rPr>
              <a:t>sao</a:t>
            </a:r>
            <a:endParaRPr sz="1350" b="0" i="1" dirty="0">
              <a:solidFill>
                <a:srgbClr val="55635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77251"/>
            <a:ext cx="1051560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i="0" dirty="0">
                <a:solidFill>
                  <a:srgbClr val="B87A1E"/>
                </a:solidFill>
                <a:latin typeface="Calibri"/>
              </a:rPr>
              <a:t>ĐẠT quality bar </a:t>
            </a:r>
            <a:r>
              <a:rPr sz="1450" b="1" i="0" dirty="0" err="1">
                <a:solidFill>
                  <a:srgbClr val="B87A1E"/>
                </a:solidFill>
                <a:latin typeface="Calibri"/>
              </a:rPr>
              <a:t>đã</a:t>
            </a:r>
            <a:r>
              <a:rPr sz="1450" b="1" i="0" dirty="0">
                <a:solidFill>
                  <a:srgbClr val="B87A1E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B87A1E"/>
                </a:solidFill>
                <a:latin typeface="Calibri"/>
              </a:rPr>
              <a:t>chốt</a:t>
            </a:r>
            <a:r>
              <a:rPr sz="1450" b="1" i="0" dirty="0">
                <a:solidFill>
                  <a:srgbClr val="B87A1E"/>
                </a:solidFill>
                <a:latin typeface="Calibri"/>
              </a:rPr>
              <a:t>.  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Golden set 20 ca: 17/20 (85%) — </a:t>
            </a:r>
            <a:r>
              <a:rPr lang="en-US" sz="1450" b="0" i="0" dirty="0" err="1">
                <a:solidFill>
                  <a:srgbClr val="1F2A24"/>
                </a:solidFill>
                <a:latin typeface="Calibri"/>
              </a:rPr>
              <a:t>trên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A24"/>
                </a:solidFill>
                <a:latin typeface="Calibri"/>
              </a:rPr>
              <a:t>mốc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 1</a:t>
            </a:r>
            <a:r>
              <a:rPr lang="en-US" sz="1450" b="0" i="0" dirty="0">
                <a:solidFill>
                  <a:srgbClr val="1F2A24"/>
                </a:solidFill>
                <a:latin typeface="Calibri"/>
              </a:rPr>
              <a:t>6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/20 (</a:t>
            </a:r>
            <a:r>
              <a:rPr lang="en-US" sz="1450" b="0" i="0" dirty="0">
                <a:solidFill>
                  <a:srgbClr val="1F2A24"/>
                </a:solidFill>
                <a:latin typeface="Calibri"/>
              </a:rPr>
              <a:t>8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0%) cam </a:t>
            </a:r>
            <a:r>
              <a:rPr sz="1450" b="0" i="0" dirty="0" err="1">
                <a:solidFill>
                  <a:srgbClr val="1F2A24"/>
                </a:solidFill>
                <a:latin typeface="Calibri"/>
              </a:rPr>
              <a:t>kết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A24"/>
                </a:solidFill>
                <a:latin typeface="Calibri"/>
              </a:rPr>
              <a:t>tại</a:t>
            </a:r>
            <a:r>
              <a:rPr sz="1450" b="0" i="0" dirty="0">
                <a:solidFill>
                  <a:srgbClr val="1F2A24"/>
                </a:solidFill>
                <a:latin typeface="Calibri"/>
              </a:rPr>
              <a:t> CP4.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2A24"/>
                </a:solidFill>
                <a:latin typeface="Cambria"/>
              </a:rPr>
              <a:t>Vì sao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611880" cy="1417320"/>
          </a:xfrm>
          <a:prstGeom prst="roundRect">
            <a:avLst>
              <a:gd name="adj" fmla="val 7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4B3E"/>
                </a:solidFill>
                <a:latin typeface="Calibri"/>
              </a:rPr>
              <a:t>G06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55635A"/>
                </a:solidFill>
                <a:latin typeface="Calibri"/>
              </a:rPr>
              <a:t>Evaluator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chưa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ổn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định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khi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một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câu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trả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lời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gộp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nhiều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tiêu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chí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cùng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lúc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063240"/>
            <a:ext cx="3611880" cy="1417320"/>
          </a:xfrm>
          <a:prstGeom prst="roundRect">
            <a:avLst>
              <a:gd name="adj" fmla="val 7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4B3E"/>
                </a:solidFill>
                <a:latin typeface="Calibri"/>
              </a:rPr>
              <a:t>G07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55635A"/>
                </a:solidFill>
                <a:latin typeface="Calibri"/>
              </a:rPr>
              <a:t>Lỗi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chuẩn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hoá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(normalize)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sau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retry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chưa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xác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định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được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nguyên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nhân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ở field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nào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063240"/>
            <a:ext cx="3611880" cy="1417320"/>
          </a:xfrm>
          <a:prstGeom prst="roundRect">
            <a:avLst>
              <a:gd name="adj" fmla="val 7000"/>
            </a:avLst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4B3E"/>
                </a:solidFill>
                <a:latin typeface="Calibri"/>
              </a:rPr>
              <a:t>G12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61188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55635A"/>
                </a:solidFill>
                <a:latin typeface="Calibri"/>
              </a:rPr>
              <a:t>Correction (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phát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biểu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sửa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sai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)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chưa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luôn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thay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thế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đúng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ý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sai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cũ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trong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đánh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5635A"/>
                </a:solidFill>
                <a:latin typeface="Calibri"/>
              </a:rPr>
              <a:t>giá</a:t>
            </a:r>
            <a:r>
              <a:rPr sz="1200" b="0" i="0" dirty="0">
                <a:solidFill>
                  <a:srgbClr val="55635A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9160"/>
            <a:ext cx="11064240" cy="1691640"/>
          </a:xfrm>
          <a:prstGeom prst="roundRect">
            <a:avLst>
              <a:gd name="adj" fmla="val 7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 err="1">
                <a:solidFill>
                  <a:srgbClr val="E8A33D"/>
                </a:solidFill>
                <a:latin typeface="Cambria"/>
              </a:rPr>
              <a:t>Tín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hiệu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mở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rộng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— live smoke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toàn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thư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viện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bài</a:t>
            </a:r>
            <a:r>
              <a:rPr sz="1350" b="1" i="0" dirty="0">
                <a:solidFill>
                  <a:srgbClr val="E8A33D"/>
                </a:solidFill>
                <a:latin typeface="Cambria"/>
              </a:rPr>
              <a:t> </a:t>
            </a:r>
            <a:r>
              <a:rPr sz="1350" b="1" i="0" dirty="0" err="1">
                <a:solidFill>
                  <a:srgbClr val="E8A33D"/>
                </a:solidFill>
                <a:latin typeface="Cambria"/>
              </a:rPr>
              <a:t>học</a:t>
            </a:r>
            <a:endParaRPr sz="1350" b="1" i="0" dirty="0">
              <a:solidFill>
                <a:srgbClr val="E8A33D"/>
              </a:solidFill>
              <a:latin typeface="Cambr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2960" y="5138928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10/15 section đạt (66,7%)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5955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D9E8DC"/>
                </a:solidFill>
                <a:latin typeface="Calibri"/>
              </a:rPr>
              <a:t>2 lesson, 15 section, 46 </a:t>
            </a:r>
            <a:r>
              <a:rPr sz="1200" b="0" i="0" dirty="0" err="1">
                <a:solidFill>
                  <a:srgbClr val="D9E8DC"/>
                </a:solidFill>
                <a:latin typeface="Calibri"/>
              </a:rPr>
              <a:t>tiêu</a:t>
            </a:r>
            <a:r>
              <a:rPr sz="1200" b="0" i="0" dirty="0">
                <a:solidFill>
                  <a:srgbClr val="D9E8DC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D9E8DC"/>
                </a:solidFill>
                <a:latin typeface="Calibri"/>
              </a:rPr>
              <a:t>chí</a:t>
            </a:r>
            <a:r>
              <a:rPr sz="1200" b="0" i="0" dirty="0">
                <a:solidFill>
                  <a:srgbClr val="D9E8DC"/>
                </a:solidFill>
                <a:latin typeface="Calibri"/>
              </a:rPr>
              <a:t>; </a:t>
            </a:r>
            <a:r>
              <a:rPr sz="1200" b="0" i="0" dirty="0" err="1">
                <a:solidFill>
                  <a:srgbClr val="D9E8DC"/>
                </a:solidFill>
                <a:latin typeface="Calibri"/>
              </a:rPr>
              <a:t>gọi</a:t>
            </a:r>
            <a:r>
              <a:rPr sz="1200" b="0" i="0" dirty="0">
                <a:solidFill>
                  <a:srgbClr val="D9E8DC"/>
                </a:solidFill>
                <a:latin typeface="Calibri"/>
              </a:rPr>
              <a:t> model </a:t>
            </a:r>
            <a:r>
              <a:rPr sz="1200" b="0" i="0" dirty="0" err="1">
                <a:solidFill>
                  <a:srgbClr val="D9E8DC"/>
                </a:solidFill>
                <a:latin typeface="Calibri"/>
              </a:rPr>
              <a:t>thật</a:t>
            </a:r>
            <a:r>
              <a:rPr sz="1200" b="0" i="0" dirty="0">
                <a:solidFill>
                  <a:srgbClr val="D9E8DC"/>
                </a:solidFill>
                <a:latin typeface="Calibri"/>
              </a:rPr>
              <a:t> qua tools/smoke_all_lessons.py.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4360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 dirty="0">
                <a:solidFill>
                  <a:srgbClr val="D9E8DC"/>
                </a:solidFill>
                <a:latin typeface="Calibri"/>
              </a:rPr>
              <a:t>5 section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của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Day 2 (problem, pair, workflows, metrics, decision)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cần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rà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lại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rubric/evaluator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trước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khi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mở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rộng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ra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toàn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thư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D9E8DC"/>
                </a:solidFill>
                <a:latin typeface="Calibri"/>
              </a:rPr>
              <a:t>viện</a:t>
            </a:r>
            <a:r>
              <a:rPr sz="1100" b="0" i="1" dirty="0">
                <a:solidFill>
                  <a:srgbClr val="D9E8DC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Nếu có thêm 1 tuần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538728" cy="228600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1F3D2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30815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FFFFFF"/>
                </a:solidFill>
                <a:latin typeface="Cambria"/>
              </a:rPr>
              <a:t>Sửa evaluator bỏ sót tiêu chí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308152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D9E8DC"/>
                </a:solidFill>
                <a:latin typeface="Calibri"/>
              </a:rPr>
              <a:t>Khi một câu trả lời gộp nhiều ý cùng lúc (G06) — lỗi coverage ảnh hưởng trực tiếp quality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417320"/>
            <a:ext cx="3538728" cy="228600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535424" y="164592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4" y="1645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1F3D2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86000"/>
            <a:ext cx="30815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FFFFFF"/>
                </a:solidFill>
                <a:latin typeface="Cambria"/>
              </a:rPr>
              <a:t>Log raw response khi lỗi cấu trúc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926080"/>
            <a:ext cx="308152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D9E8DC"/>
                </a:solidFill>
                <a:latin typeface="Calibri"/>
              </a:rPr>
              <a:t>Sau retry (G07) — hiện chưa đủ log để xác định field cụ thể gây lỗi.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417320"/>
            <a:ext cx="3538728" cy="2286000"/>
          </a:xfrm>
          <a:prstGeom prst="roundRect">
            <a:avLst>
              <a:gd name="adj" fmla="val 8000"/>
            </a:avLst>
          </a:prstGeom>
          <a:solidFill>
            <a:srgbClr val="2A4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93608" y="164592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645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1F3D2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86000"/>
            <a:ext cx="30815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FFFFFF"/>
                </a:solidFill>
                <a:latin typeface="Cambria"/>
              </a:rPr>
              <a:t>Rà lại rubric Day 2 trước khi mở rộng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926080"/>
            <a:ext cx="308152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D9E8DC"/>
                </a:solidFill>
                <a:latin typeface="Calibri"/>
              </a:rPr>
              <a:t>5/15 section fail trong live smoke — cần ổn định trước khi đưa ra toàn thư viện bài học.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39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7A1E"/>
                </a:solidFill>
                <a:latin typeface="Calibri"/>
              </a:rPr>
              <a:t>BÀI HỌC LỚN NHẤT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F3D2B"/>
                </a:solidFill>
                <a:latin typeface="Cambria"/>
              </a:rPr>
              <a:t>Chấm bằng LLM ổn định với câu trả lời đơn giản, nhưng dễ vỡ khi một câu trả lời gộp nhiều ý cùng lúc — cần một lượt kiểm tra thứ hai chắc hơn, không chỉ dựa vào một lần gọi model.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8F71"/>
                </a:solidFill>
                <a:latin typeface="Calibri"/>
              </a:rPr>
              <a:t>TeachBack · Nhóm toibingu · Lớp 3B — Phòng E403 — Cụm 6  ·  Trần Hữu Đức · Lê Quang Ngọc · Doãn Hữu Nguyên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B8F71"/>
                </a:solidFill>
                <a:latin typeface="Calibri"/>
              </a:rPr>
              <a:t>Track D3 — Học tập thích ứng &amp; tương tác  ·  repo: K4-3B-E403-toibingu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1037</Words>
  <Application>Microsoft Office PowerPoint</Application>
  <PresentationFormat>Widescreen</PresentationFormat>
  <Paragraphs>103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Trần Hữu Đức</cp:lastModifiedBy>
  <cp:revision>3</cp:revision>
  <dcterms:created xsi:type="dcterms:W3CDTF">2013-01-27T09:14:16Z</dcterms:created>
  <dcterms:modified xsi:type="dcterms:W3CDTF">2026-09-18T12:06:46Z</dcterms:modified>
  <cp:category/>
</cp:coreProperties>
</file>