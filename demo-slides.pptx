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97BC62"/>
                </a:solidFill>
                <a:latin typeface="Calibri"/>
              </a:rPr>
              <a:t>TEACHBACK · TRACK D3 — HỌC TẬP THÍCH ỨNG &amp; TƯƠNG TÁC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589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 dirty="0">
                <a:solidFill>
                  <a:srgbClr val="FFFFFF"/>
                </a:solidFill>
                <a:latin typeface="Cambria"/>
              </a:rPr>
              <a:t>Học </a:t>
            </a:r>
            <a:r>
              <a:rPr sz="3200" b="1" i="0" dirty="0" err="1">
                <a:solidFill>
                  <a:srgbClr val="FFFFFF"/>
                </a:solidFill>
                <a:latin typeface="Cambria"/>
              </a:rPr>
              <a:t>xong</a:t>
            </a:r>
            <a:r>
              <a:rPr sz="3200" b="1" i="0" dirty="0">
                <a:solidFill>
                  <a:srgbClr val="FFFFFF"/>
                </a:solidFill>
                <a:latin typeface="Cambria"/>
              </a:rPr>
              <a:t> quiz </a:t>
            </a:r>
            <a:r>
              <a:rPr sz="3200" b="1" i="0" dirty="0" err="1">
                <a:solidFill>
                  <a:srgbClr val="FFFFFF"/>
                </a:solidFill>
                <a:latin typeface="Cambria"/>
              </a:rPr>
              <a:t>đúng</a:t>
            </a:r>
            <a:r>
              <a:rPr sz="3200" b="1" i="0" dirty="0">
                <a:solidFill>
                  <a:srgbClr val="FFFFFF"/>
                </a:solidFill>
                <a:latin typeface="Cambria"/>
              </a:rPr>
              <a:t> — </a:t>
            </a:r>
            <a:r>
              <a:rPr sz="3200" b="1" i="0" dirty="0" err="1">
                <a:solidFill>
                  <a:srgbClr val="FFFFFF"/>
                </a:solidFill>
                <a:latin typeface="Cambria"/>
              </a:rPr>
              <a:t>nhưng</a:t>
            </a:r>
            <a:r>
              <a:rPr sz="32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mbria"/>
              </a:rPr>
              <a:t>có</a:t>
            </a:r>
            <a:r>
              <a:rPr sz="32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mbria"/>
              </a:rPr>
              <a:t>thực</a:t>
            </a:r>
            <a:r>
              <a:rPr sz="32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mbria"/>
              </a:rPr>
              <a:t>sự</a:t>
            </a:r>
            <a:r>
              <a:rPr sz="32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mbria"/>
              </a:rPr>
              <a:t>hiểu</a:t>
            </a:r>
            <a:r>
              <a:rPr sz="3200" b="1" i="0" dirty="0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7589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>
                <a:solidFill>
                  <a:srgbClr val="97BC62"/>
                </a:solidFill>
                <a:latin typeface="Calibri"/>
              </a:rPr>
              <a:t>Job executor:  </a:t>
            </a:r>
            <a:r>
              <a:rPr sz="1350" b="0" i="0" dirty="0" err="1">
                <a:solidFill>
                  <a:srgbClr val="D9E8DC"/>
                </a:solidFill>
                <a:latin typeface="Calibri"/>
              </a:rPr>
              <a:t>học</a:t>
            </a:r>
            <a:r>
              <a:rPr sz="1350" b="0" i="0" dirty="0">
                <a:solidFill>
                  <a:srgbClr val="D9E8DC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D9E8DC"/>
                </a:solidFill>
                <a:latin typeface="Calibri"/>
              </a:rPr>
              <a:t>viên</a:t>
            </a:r>
            <a:r>
              <a:rPr sz="1350" b="0" i="0" dirty="0">
                <a:solidFill>
                  <a:srgbClr val="D9E8DC"/>
                </a:solidFill>
                <a:latin typeface="Calibri"/>
              </a:rPr>
              <a:t> AI in Action </a:t>
            </a:r>
            <a:r>
              <a:rPr sz="1350" b="0" i="0" dirty="0" err="1">
                <a:solidFill>
                  <a:srgbClr val="D9E8DC"/>
                </a:solidFill>
                <a:latin typeface="Calibri"/>
              </a:rPr>
              <a:t>vừa</a:t>
            </a:r>
            <a:r>
              <a:rPr sz="1350" b="0" i="0" dirty="0">
                <a:solidFill>
                  <a:srgbClr val="D9E8DC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D9E8DC"/>
                </a:solidFill>
                <a:latin typeface="Calibri"/>
              </a:rPr>
              <a:t>học</a:t>
            </a:r>
            <a:r>
              <a:rPr sz="1350" b="0" i="0" dirty="0">
                <a:solidFill>
                  <a:srgbClr val="D9E8DC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D9E8DC"/>
                </a:solidFill>
                <a:latin typeface="Calibri"/>
              </a:rPr>
              <a:t>xong</a:t>
            </a:r>
            <a:r>
              <a:rPr sz="1350" b="0" i="0" dirty="0">
                <a:solidFill>
                  <a:srgbClr val="D9E8DC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D9E8DC"/>
                </a:solidFill>
                <a:latin typeface="Calibri"/>
              </a:rPr>
              <a:t>một</a:t>
            </a:r>
            <a:r>
              <a:rPr sz="1350" b="0" i="0" dirty="0">
                <a:solidFill>
                  <a:srgbClr val="D9E8DC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D9E8DC"/>
                </a:solidFill>
                <a:latin typeface="Calibri"/>
              </a:rPr>
              <a:t>phần</a:t>
            </a:r>
            <a:r>
              <a:rPr sz="1350" b="0" i="0" dirty="0">
                <a:solidFill>
                  <a:srgbClr val="D9E8DC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D9E8DC"/>
                </a:solidFill>
                <a:latin typeface="Calibri"/>
              </a:rPr>
              <a:t>bài</a:t>
            </a:r>
            <a:r>
              <a:rPr sz="1350" b="0" i="0" dirty="0">
                <a:solidFill>
                  <a:srgbClr val="D9E8DC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D9E8DC"/>
                </a:solidFill>
                <a:latin typeface="Calibri"/>
              </a:rPr>
              <a:t>giảng</a:t>
            </a:r>
            <a:r>
              <a:rPr sz="1350" b="0" i="0" dirty="0">
                <a:solidFill>
                  <a:srgbClr val="D9E8DC"/>
                </a:solidFill>
                <a:latin typeface="Calibri"/>
              </a:rPr>
              <a:t> (</a:t>
            </a:r>
            <a:r>
              <a:rPr sz="1350" b="0" i="0" dirty="0" err="1">
                <a:solidFill>
                  <a:srgbClr val="D9E8DC"/>
                </a:solidFill>
                <a:latin typeface="Calibri"/>
              </a:rPr>
              <a:t>buổi</a:t>
            </a:r>
            <a:r>
              <a:rPr sz="1350" b="0" i="0" dirty="0">
                <a:solidFill>
                  <a:srgbClr val="D9E8DC"/>
                </a:solidFill>
                <a:latin typeface="Calibri"/>
              </a:rPr>
              <a:t> Foundation Day 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80360"/>
            <a:ext cx="7589520" cy="1417320"/>
          </a:xfrm>
          <a:prstGeom prst="roundRect">
            <a:avLst>
              <a:gd name="adj" fmla="val 8000"/>
            </a:avLst>
          </a:prstGeom>
          <a:solidFill>
            <a:srgbClr val="2A4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035808"/>
            <a:ext cx="69494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FFFFFF"/>
                </a:solidFill>
                <a:latin typeface="Cambria"/>
              </a:rPr>
              <a:t>“Khi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vừa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học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xong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một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khái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niệm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,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tôi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muốn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thử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giải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thích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nó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bằng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lời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của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mình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và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nhận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ra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chỗ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còn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thiếu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hoặc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sai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,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để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biết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cần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ôn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gì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trước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khi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áp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 </a:t>
            </a:r>
            <a:r>
              <a:rPr sz="1600" b="0" i="1" dirty="0" err="1">
                <a:solidFill>
                  <a:srgbClr val="FFFFFF"/>
                </a:solidFill>
                <a:latin typeface="Cambria"/>
              </a:rPr>
              <a:t>dụng</a:t>
            </a:r>
            <a:r>
              <a:rPr sz="1600" b="0" i="1" dirty="0">
                <a:solidFill>
                  <a:srgbClr val="FFFFFF"/>
                </a:solidFill>
                <a:latin typeface="Cambria"/>
              </a:rPr>
              <a:t>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777240"/>
            <a:ext cx="3200400" cy="1691640"/>
          </a:xfrm>
          <a:prstGeom prst="roundRect">
            <a:avLst>
              <a:gd name="adj" fmla="val 8000"/>
            </a:avLst>
          </a:prstGeom>
          <a:solidFill>
            <a:srgbClr val="2A4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896112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E8A33D"/>
                </a:solidFill>
                <a:latin typeface="Cambria"/>
              </a:rPr>
              <a:t>0,15%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536192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D9E8DC"/>
                </a:solidFill>
                <a:latin typeface="Calibri"/>
              </a:rPr>
              <a:t>lượt tutor có gắn nhãn understanding_level (20 / 13.494 lượt)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651760"/>
            <a:ext cx="3200400" cy="1691640"/>
          </a:xfrm>
          <a:prstGeom prst="roundRect">
            <a:avLst>
              <a:gd name="adj" fmla="val 8000"/>
            </a:avLst>
          </a:prstGeom>
          <a:solidFill>
            <a:srgbClr val="2A4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2770632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E8A33D"/>
                </a:solidFill>
                <a:latin typeface="Cambria"/>
              </a:rPr>
              <a:t>0,21%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410712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D9E8DC"/>
                </a:solidFill>
                <a:latin typeface="Calibri"/>
              </a:rPr>
              <a:t>lượt tutor chủ động hỏi gợi mở, move_used = ask_probing_question (28 / 13.494)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443484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6B8F71"/>
                </a:solidFill>
                <a:latin typeface="Calibri"/>
              </a:rPr>
              <a:t>Nguồn: đếm trên data/vlearn-pack/chatlog/tutor_turns.csv — tái lập được, xem spec.md §1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Chọn đúng đáp án quiz — nhưng chưa chắc đã hiểu trọn cơ chế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74920"/>
            <a:ext cx="3246120" cy="1417320"/>
          </a:xfrm>
          <a:prstGeom prst="roundRect">
            <a:avLst>
              <a:gd name="adj" fmla="val 7000"/>
            </a:avLst>
          </a:prstGeom>
          <a:solidFill>
            <a:srgbClr val="2A4D37"/>
          </a:solidFill>
          <a:ln w="9525">
            <a:solidFill>
              <a:srgbClr val="6B8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18464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8A33D"/>
                </a:solidFill>
                <a:latin typeface="Calibri"/>
              </a:rPr>
              <a:t>Khảo sát VLearn — 25 HV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58968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1">
                <a:solidFill>
                  <a:srgbClr val="FFFFFF"/>
                </a:solidFill>
                <a:latin typeface="Calibri"/>
              </a:rPr>
              <a:t>“Chọn đúng nhưng chỉ đoán theo cảm tính”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4476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D9E8DC"/>
                </a:solidFill>
                <a:latin typeface="Calibri"/>
              </a:rPr>
              <a:t>Quiz — chọn đúng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59" y="5074920"/>
            <a:ext cx="320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97BC62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5074920"/>
            <a:ext cx="3246120" cy="1417320"/>
          </a:xfrm>
          <a:prstGeom prst="roundRect">
            <a:avLst>
              <a:gd name="adj" fmla="val 7000"/>
            </a:avLst>
          </a:prstGeom>
          <a:solidFill>
            <a:srgbClr val="2A4D37"/>
          </a:solidFill>
          <a:ln w="9525">
            <a:solidFill>
              <a:srgbClr val="6B8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518464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8A33D"/>
                </a:solidFill>
                <a:latin typeface="Calibri"/>
              </a:rPr>
              <a:t>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458968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1">
                <a:solidFill>
                  <a:srgbClr val="FFFFFF"/>
                </a:solidFill>
                <a:latin typeface="Calibri"/>
              </a:rPr>
              <a:t>chỉ giải thích được “một phần” cơ chế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614476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D9E8DC"/>
                </a:solidFill>
                <a:latin typeface="Calibri"/>
              </a:rPr>
              <a:t>Chưa hiểu trọn cơ chế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5074920"/>
            <a:ext cx="320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97BC62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5074920"/>
            <a:ext cx="3246120" cy="1417320"/>
          </a:xfrm>
          <a:prstGeom prst="roundRect">
            <a:avLst>
              <a:gd name="adj" fmla="val 7000"/>
            </a:avLst>
          </a:prstGeom>
          <a:solidFill>
            <a:srgbClr val="2A4D37"/>
          </a:solidFill>
          <a:ln w="9525">
            <a:solidFill>
              <a:srgbClr val="6B8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518464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8A33D"/>
                </a:solidFill>
                <a:latin typeface="Calibri"/>
              </a:rPr>
              <a:t>84%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458968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1">
                <a:solidFill>
                  <a:srgbClr val="FFFFFF"/>
                </a:solidFill>
                <a:latin typeface="Calibri"/>
              </a:rPr>
              <a:t>nghĩ sẽ hiểu chắc hơn nếu phải dạy lại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614476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D9E8DC"/>
                </a:solidFill>
                <a:latin typeface="Calibri"/>
              </a:rPr>
              <a:t>Ủng hộ ý tưởng dạy lại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67393" y="519083"/>
            <a:ext cx="2363893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1F2A24"/>
                </a:solidFill>
                <a:latin typeface="Cambria"/>
              </a:rPr>
              <a:t>Vì</a:t>
            </a:r>
            <a:r>
              <a:rPr sz="3000" b="1" i="0" dirty="0">
                <a:solidFill>
                  <a:srgbClr val="1F2A24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1F2A24"/>
                </a:solidFill>
                <a:latin typeface="Cambria"/>
              </a:rPr>
              <a:t>sao</a:t>
            </a:r>
            <a:r>
              <a:rPr sz="3000" b="1" i="0" dirty="0">
                <a:solidFill>
                  <a:srgbClr val="1F2A24"/>
                </a:solidFill>
                <a:latin typeface="Cambria"/>
              </a:rPr>
              <a:t> </a:t>
            </a:r>
            <a:r>
              <a:rPr sz="3000" b="1" i="0" dirty="0" err="1">
                <a:solidFill>
                  <a:srgbClr val="1F2A24"/>
                </a:solidFill>
                <a:latin typeface="Cambria"/>
              </a:rPr>
              <a:t>chọn</a:t>
            </a:r>
            <a:r>
              <a:rPr sz="3000" b="1" i="0" dirty="0">
                <a:solidFill>
                  <a:srgbClr val="1F2A24"/>
                </a:solidFill>
                <a:latin typeface="Cambria"/>
              </a:rPr>
              <a:t> TeachBack?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611880" cy="4160520"/>
          </a:xfrm>
          <a:prstGeom prst="roundRect">
            <a:avLst>
              <a:gd name="adj" fmla="val 9000"/>
            </a:avLst>
          </a:prstGeom>
          <a:solidFill>
            <a:srgbClr val="F2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F3D2B"/>
                </a:solidFill>
                <a:latin typeface="Cambria"/>
              </a:rPr>
              <a:t>A · TeachBack — dạy lại cho “Mầm”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7296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B87A1E"/>
                </a:solidFill>
                <a:latin typeface="Calibri"/>
              </a:rPr>
              <a:t>0,21% có hỏi lại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5635A"/>
                </a:solidFill>
                <a:latin typeface="Calibri"/>
              </a:rPr>
              <a:t>84% ủng hộ dạy lại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39"/>
            <a:ext cx="315468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635A"/>
                </a:solidFill>
                <a:latin typeface="Calibri"/>
              </a:rPr>
              <a:t>Giữ được vòng hỏi ngược có kiểm soát trước khi kết luận “đã hiểu” — giới hạn bằng checklist 5 tiêu chí + tối đa 3 câu hỏi gợi mở, khả thi trong 39 giờ.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611880" cy="4160520"/>
          </a:xfrm>
          <a:prstGeom prst="roundRect">
            <a:avLst>
              <a:gd name="adj" fmla="val 9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F2A24"/>
                </a:solidFill>
                <a:latin typeface="Cambria"/>
              </a:rPr>
              <a:t>B · Hỏi ngược ngay trong quiz VLearn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7A7A75"/>
                </a:solidFill>
                <a:latin typeface="Calibri"/>
              </a:rPr>
              <a:t>Cùng bằng chứng 0,21%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2044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5635A"/>
                </a:solidFill>
                <a:latin typeface="Calibri"/>
              </a:rPr>
              <a:t>Cần sửa quiz thật VLearn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77639"/>
            <a:ext cx="315468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635A"/>
                </a:solidFill>
                <a:latin typeface="Calibri"/>
              </a:rPr>
              <a:t>Loại: phải tích hợp trực tiếp vào hệ thống quiz thật của VLearn — đã là non-goal, không khả thi build trong 39 giờ.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00200"/>
            <a:ext cx="3611880" cy="4160520"/>
          </a:xfrm>
          <a:prstGeom prst="roundRect">
            <a:avLst>
              <a:gd name="adj" fmla="val 9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2377440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F2A24"/>
                </a:solidFill>
                <a:latin typeface="Cambria"/>
              </a:rPr>
              <a:t>C · Form tự chấm 1 lượt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17296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7A7A75"/>
                </a:solidFill>
                <a:latin typeface="Calibri"/>
              </a:rPr>
              <a:t>64% chỉ hiểu “một phần”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52044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5635A"/>
                </a:solidFill>
                <a:latin typeface="Calibri"/>
              </a:rPr>
              <a:t>Không có vòng hỏi lại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977639"/>
            <a:ext cx="315468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635A"/>
                </a:solidFill>
                <a:latin typeface="Calibri"/>
              </a:rPr>
              <a:t>Loại: dễ báo “đạt” cho câu trả lời mới đúng một phần — vi phạm nguyên tắc báo đạt sai phải đắt hơn báo thiếu sai.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6000"/>
            </a:avLst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Giải pháp: TeachBack cùng “Mầm”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2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1">
                <a:solidFill>
                  <a:srgbClr val="1F3D2B"/>
                </a:solidFill>
                <a:latin typeface="Cambria"/>
              </a:rPr>
              <a:t>Học viên dạy lại một khái niệm cho “Mầm” → Mầm so khớp lời giải thích với checklist tiêu chí soạn sẵn cho khái niệm đó → xác nhận “đã dạy được”, hoặc hỏi ngược đúng chỗ còn thiếu mà không lộ đáp án.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194560"/>
            <a:ext cx="9235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55635A"/>
                </a:solidFill>
                <a:latin typeface="Calibri"/>
              </a:rPr>
              <a:t>Báo đạt sai → tự tin sai (đắt)  ·  báo thiếu sai → tốn lượt (rẻ hơn)  →  người học luôn là người quyết định ôn lại.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86207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A24"/>
                </a:solidFill>
                <a:latin typeface="Cambria"/>
              </a:rPr>
              <a:t>Dạy lại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4728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35A"/>
                </a:solidFill>
                <a:latin typeface="Calibri"/>
              </a:rPr>
              <a:t>Học viên giải thích bằng lời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07208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97BC62"/>
                </a:solidFill>
                <a:latin typeface="Calibr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3337560" y="2880360"/>
            <a:ext cx="502920" cy="502920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86207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A24"/>
                </a:solidFill>
                <a:latin typeface="Cambria"/>
              </a:rPr>
              <a:t>So khớp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44728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35A"/>
                </a:solidFill>
                <a:latin typeface="Calibri"/>
              </a:rPr>
              <a:t>Đối chiếu checklist tiêu chí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807208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97BC62"/>
                </a:solidFill>
                <a:latin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6126480" y="2880360"/>
            <a:ext cx="502920" cy="502920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86207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A24"/>
                </a:solidFill>
                <a:latin typeface="Cambria"/>
              </a:rPr>
              <a:t>Đủ ý?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44728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35A"/>
                </a:solidFill>
                <a:latin typeface="Calibri"/>
              </a:rPr>
              <a:t>Đủ → xác nhận. Thiếu → hỏi lại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807208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97BC62"/>
                </a:solidFill>
                <a:latin typeface="Calibri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8915400" y="2880360"/>
            <a:ext cx="502920" cy="502920"/>
          </a:xfrm>
          <a:prstGeom prst="ellipse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15400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86207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A24"/>
                </a:solidFill>
                <a:latin typeface="Cambria"/>
              </a:rPr>
              <a:t>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44728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35A"/>
                </a:solidFill>
                <a:latin typeface="Calibri"/>
              </a:rPr>
              <a:t>Ghi ý đạt ngay / đạt sau gợi mở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434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7A7A75"/>
                </a:solidFill>
                <a:latin typeface="Calibri"/>
              </a:rPr>
              <a:t>Quá 3 lượt hỏi vẫn thiếu → dừng, gợi ý đoạn tài liệu nên xem lại (không hỏi vô hạn)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A24"/>
                </a:solidFill>
                <a:latin typeface="Cambria"/>
              </a:rPr>
              <a:t>Demo trực tiếp — 2 case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12080"/>
            <a:ext cx="5440680" cy="1234440"/>
          </a:xfrm>
          <a:prstGeom prst="roundRect">
            <a:avLst>
              <a:gd name="adj" fmla="val 7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34924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8F71"/>
                </a:solidFill>
                <a:latin typeface="Calibri"/>
              </a:rPr>
              <a:t>CASE CHUẨN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96128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2A24"/>
                </a:solidFill>
                <a:latin typeface="Cambria"/>
              </a:rPr>
              <a:t>Happy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97880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35A"/>
                </a:solidFill>
                <a:latin typeface="Calibri"/>
              </a:rPr>
              <a:t>Giải thích đủ 5 ý → Mầm xác nhận “À, mình hiểu rồi!” → trạng thái completed.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5212080"/>
            <a:ext cx="5440680" cy="1234440"/>
          </a:xfrm>
          <a:prstGeom prst="roundRect">
            <a:avLst>
              <a:gd name="adj" fmla="val 7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534924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87A1E"/>
                </a:solidFill>
                <a:latin typeface="Calibri"/>
              </a:rPr>
              <a:t>CASE CHỖ KHÓ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596128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2A24"/>
                </a:solidFill>
                <a:latin typeface="Cambria"/>
              </a:rPr>
              <a:t>Thiếu cơ chế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897880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35A"/>
                </a:solidFill>
                <a:latin typeface="Calibri"/>
              </a:rPr>
              <a:t>Chỉ nói “temperature là độ sáng tạo” → hệ thống phát hiện thiếu, hỏi đúng 1 câu — không lộ đáp án.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Kết quả đo trên Golden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F2A24"/>
                </a:solidFill>
                <a:latin typeface="Calibri"/>
              </a:rPr>
              <a:t>Quality bar (cam kết)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5120640" cy="502920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025395"/>
            <a:ext cx="4150360" cy="384048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038344" y="2131664"/>
            <a:ext cx="10972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00" b="1" dirty="0">
                <a:solidFill>
                  <a:srgbClr val="1F2A24"/>
                </a:solidFill>
                <a:latin typeface="Calibri"/>
              </a:rPr>
              <a:t>8</a:t>
            </a:r>
            <a:r>
              <a:rPr sz="1300" b="1" i="0" dirty="0">
                <a:solidFill>
                  <a:srgbClr val="1F2A24"/>
                </a:solidFill>
                <a:latin typeface="Calibri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F2A24"/>
                </a:solidFill>
                <a:latin typeface="Calibri"/>
              </a:rPr>
              <a:t>Kết quả mới nhất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5120640" cy="502920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3076956"/>
            <a:ext cx="4352544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38344" y="301752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A24"/>
                </a:solidFill>
                <a:latin typeface="Calibri"/>
              </a:rPr>
              <a:t>85%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120640" cy="777240"/>
          </a:xfrm>
          <a:prstGeom prst="roundRect">
            <a:avLst>
              <a:gd name="adj" fmla="val 7000"/>
            </a:avLst>
          </a:prstGeom>
          <a:solidFill>
            <a:srgbClr val="F2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273480"/>
            <a:ext cx="46634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dirty="0">
                <a:solidFill>
                  <a:srgbClr val="B87A1E"/>
                </a:solidFill>
                <a:latin typeface="Calibri"/>
              </a:rPr>
              <a:t>17/20 (85%)  </a:t>
            </a:r>
            <a:r>
              <a:rPr sz="1250" b="0" i="0" dirty="0">
                <a:solidFill>
                  <a:srgbClr val="1F2A24"/>
                </a:solidFill>
                <a:latin typeface="Calibri"/>
              </a:rPr>
              <a:t>—</a:t>
            </a:r>
            <a:r>
              <a:rPr lang="en-US" sz="1250" b="0" i="0" dirty="0">
                <a:solidFill>
                  <a:srgbClr val="1F2A2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F2A24"/>
                </a:solidFill>
                <a:latin typeface="Calibri"/>
              </a:rPr>
              <a:t>đạt</a:t>
            </a:r>
            <a:r>
              <a:rPr sz="1250" b="0" i="0" dirty="0">
                <a:solidFill>
                  <a:srgbClr val="1F2A2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F2A24"/>
                </a:solidFill>
                <a:latin typeface="Calibri"/>
              </a:rPr>
              <a:t>mốc</a:t>
            </a:r>
            <a:r>
              <a:rPr sz="1250" b="0" i="0" dirty="0">
                <a:solidFill>
                  <a:srgbClr val="1F2A24"/>
                </a:solidFill>
                <a:latin typeface="Calibri"/>
              </a:rPr>
              <a:t> 1</a:t>
            </a:r>
            <a:r>
              <a:rPr lang="en-US" sz="1250" b="0" i="0" dirty="0">
                <a:solidFill>
                  <a:srgbClr val="1F2A24"/>
                </a:solidFill>
                <a:latin typeface="Calibri"/>
              </a:rPr>
              <a:t>6</a:t>
            </a:r>
            <a:r>
              <a:rPr sz="1250" b="0" i="0" dirty="0">
                <a:solidFill>
                  <a:srgbClr val="1F2A24"/>
                </a:solidFill>
                <a:latin typeface="Calibri"/>
              </a:rPr>
              <a:t>/20 (</a:t>
            </a:r>
            <a:r>
              <a:rPr lang="en-US" sz="1250" b="0" i="0" dirty="0">
                <a:solidFill>
                  <a:srgbClr val="1F2A24"/>
                </a:solidFill>
                <a:latin typeface="Calibri"/>
              </a:rPr>
              <a:t>8</a:t>
            </a:r>
            <a:r>
              <a:rPr sz="1250" b="0" i="0" dirty="0">
                <a:solidFill>
                  <a:srgbClr val="1F2A24"/>
                </a:solidFill>
                <a:latin typeface="Calibri"/>
              </a:rPr>
              <a:t>0%) </a:t>
            </a:r>
            <a:r>
              <a:rPr sz="1250" b="0" i="0" dirty="0" err="1">
                <a:solidFill>
                  <a:srgbClr val="1F2A24"/>
                </a:solidFill>
                <a:latin typeface="Calibri"/>
              </a:rPr>
              <a:t>đã</a:t>
            </a:r>
            <a:r>
              <a:rPr sz="1250" b="0" i="0" dirty="0">
                <a:solidFill>
                  <a:srgbClr val="1F2A2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F2A24"/>
                </a:solidFill>
                <a:latin typeface="Calibri"/>
              </a:rPr>
              <a:t>chốt</a:t>
            </a:r>
            <a:endParaRPr sz="1250" b="0" i="0" dirty="0">
              <a:solidFill>
                <a:srgbClr val="1F2A24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5074920"/>
            <a:ext cx="5120640" cy="1051560"/>
          </a:xfrm>
          <a:prstGeom prst="roundRect">
            <a:avLst>
              <a:gd name="adj" fmla="val 7000"/>
            </a:avLst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074920"/>
            <a:ext cx="466344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 dirty="0">
                <a:solidFill>
                  <a:srgbClr val="E8A33D"/>
                </a:solidFill>
                <a:latin typeface="Calibri"/>
              </a:rPr>
              <a:t>37/37 (100%)  </a:t>
            </a:r>
            <a:r>
              <a:rPr sz="1100" b="0" i="0" dirty="0">
                <a:solidFill>
                  <a:srgbClr val="D9E8DC"/>
                </a:solidFill>
                <a:latin typeface="Calibri"/>
              </a:rPr>
              <a:t>test </a:t>
            </a:r>
            <a:r>
              <a:rPr sz="1100" b="0" i="0" dirty="0" err="1">
                <a:solidFill>
                  <a:srgbClr val="D9E8DC"/>
                </a:solidFill>
                <a:latin typeface="Calibri"/>
              </a:rPr>
              <a:t>kỹ</a:t>
            </a:r>
            <a:r>
              <a:rPr sz="1100" b="0" i="0" dirty="0">
                <a:solidFill>
                  <a:srgbClr val="D9E8D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D9E8DC"/>
                </a:solidFill>
                <a:latin typeface="Calibri"/>
              </a:rPr>
              <a:t>thuật</a:t>
            </a:r>
            <a:r>
              <a:rPr sz="1100" b="0" i="0" dirty="0">
                <a:solidFill>
                  <a:srgbClr val="D9E8DC"/>
                </a:solidFill>
                <a:latin typeface="Calibri"/>
              </a:rPr>
              <a:t> — logic/rubric/HTTP/</a:t>
            </a:r>
            <a:r>
              <a:rPr sz="1100" b="0" i="0" dirty="0" err="1">
                <a:solidFill>
                  <a:srgbClr val="D9E8DC"/>
                </a:solidFill>
                <a:latin typeface="Calibri"/>
              </a:rPr>
              <a:t>tiến</a:t>
            </a:r>
            <a:r>
              <a:rPr sz="1100" b="0" i="0" dirty="0">
                <a:solidFill>
                  <a:srgbClr val="D9E8D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D9E8DC"/>
                </a:solidFill>
                <a:latin typeface="Calibri"/>
              </a:rPr>
              <a:t>độ</a:t>
            </a:r>
            <a:r>
              <a:rPr sz="1100" b="0" i="0" dirty="0">
                <a:solidFill>
                  <a:srgbClr val="D9E8DC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D9E8DC"/>
                </a:solidFill>
                <a:latin typeface="Calibri"/>
              </a:rPr>
              <a:t>dùng</a:t>
            </a:r>
            <a:r>
              <a:rPr sz="1100" b="0" i="0" dirty="0">
                <a:solidFill>
                  <a:srgbClr val="D9E8DC"/>
                </a:solidFill>
                <a:latin typeface="Calibri"/>
              </a:rPr>
              <a:t> model </a:t>
            </a:r>
            <a:r>
              <a:rPr sz="1100" b="0" i="0" dirty="0" err="1">
                <a:solidFill>
                  <a:srgbClr val="D9E8DC"/>
                </a:solidFill>
                <a:latin typeface="Calibri"/>
              </a:rPr>
              <a:t>giả</a:t>
            </a:r>
            <a:r>
              <a:rPr sz="1100" b="0" i="0" dirty="0">
                <a:solidFill>
                  <a:srgbClr val="D9E8D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D9E8DC"/>
                </a:solidFill>
                <a:latin typeface="Calibri"/>
              </a:rPr>
              <a:t>lập</a:t>
            </a:r>
            <a:r>
              <a:rPr sz="1100" b="0" i="0" dirty="0">
                <a:solidFill>
                  <a:srgbClr val="D9E8DC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D9E8DC"/>
                </a:solidFill>
                <a:latin typeface="Calibri"/>
              </a:rPr>
              <a:t>không</a:t>
            </a:r>
            <a:r>
              <a:rPr sz="1100" b="0" i="0" dirty="0">
                <a:solidFill>
                  <a:srgbClr val="D9E8D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D9E8DC"/>
                </a:solidFill>
                <a:latin typeface="Calibri"/>
              </a:rPr>
              <a:t>đo</a:t>
            </a:r>
            <a:r>
              <a:rPr sz="1100" b="0" i="0" dirty="0">
                <a:solidFill>
                  <a:srgbClr val="D9E8DC"/>
                </a:solidFill>
                <a:latin typeface="Calibri"/>
              </a:rPr>
              <a:t> AI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645920"/>
            <a:ext cx="56692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A24"/>
                </a:solidFill>
                <a:latin typeface="Cambria"/>
              </a:rPr>
              <a:t>Failure </a:t>
            </a:r>
            <a:r>
              <a:rPr sz="1500" b="1" i="0" dirty="0" err="1">
                <a:solidFill>
                  <a:srgbClr val="1F2A24"/>
                </a:solidFill>
                <a:latin typeface="Cambria"/>
              </a:rPr>
              <a:t>đáng</a:t>
            </a:r>
            <a:r>
              <a:rPr sz="1500" b="1" i="0" dirty="0">
                <a:solidFill>
                  <a:srgbClr val="1F2A24"/>
                </a:solidFill>
                <a:latin typeface="Cambria"/>
              </a:rPr>
              <a:t> </a:t>
            </a:r>
            <a:r>
              <a:rPr sz="1500" b="1" i="0" dirty="0" err="1">
                <a:solidFill>
                  <a:srgbClr val="1F2A24"/>
                </a:solidFill>
                <a:latin typeface="Cambria"/>
              </a:rPr>
              <a:t>kể</a:t>
            </a:r>
            <a:r>
              <a:rPr sz="1500" b="1" i="0" dirty="0">
                <a:solidFill>
                  <a:srgbClr val="1F2A24"/>
                </a:solidFill>
                <a:latin typeface="Cambria"/>
              </a:rPr>
              <a:t> </a:t>
            </a:r>
            <a:r>
              <a:rPr sz="1500" b="1" i="0" dirty="0" err="1">
                <a:solidFill>
                  <a:srgbClr val="1F2A24"/>
                </a:solidFill>
                <a:latin typeface="Cambria"/>
              </a:rPr>
              <a:t>nhất</a:t>
            </a:r>
            <a:endParaRPr sz="1500" b="1" i="0" dirty="0">
              <a:solidFill>
                <a:srgbClr val="1F2A24"/>
              </a:solidFill>
              <a:latin typeface="Cambria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989320" y="2240280"/>
            <a:ext cx="5669280" cy="868680"/>
          </a:xfrm>
          <a:prstGeom prst="roundRect">
            <a:avLst>
              <a:gd name="adj" fmla="val 6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23500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B84B3E"/>
                </a:solidFill>
                <a:latin typeface="Calibri"/>
              </a:rPr>
              <a:t>G06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624328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 dirty="0" err="1">
                <a:solidFill>
                  <a:srgbClr val="55635A"/>
                </a:solidFill>
                <a:latin typeface="Calibri"/>
              </a:rPr>
              <a:t>Bỏ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sót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tiêu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chí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“definition”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khi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câu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trả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lời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gộp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nhiều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ý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trong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một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lượt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291840"/>
            <a:ext cx="5669280" cy="868680"/>
          </a:xfrm>
          <a:prstGeom prst="roundRect">
            <a:avLst>
              <a:gd name="adj" fmla="val 6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40156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B84B3E"/>
                </a:solidFill>
                <a:latin typeface="Calibri"/>
              </a:rPr>
              <a:t>G07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675888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 dirty="0">
                <a:solidFill>
                  <a:srgbClr val="55635A"/>
                </a:solidFill>
                <a:latin typeface="Calibri"/>
              </a:rPr>
              <a:t>Evaluator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trả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lỗi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cấu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trúc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sau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1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lần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retry;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chưa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có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raw response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để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xác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định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field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cụ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5635A"/>
                </a:solidFill>
                <a:latin typeface="Calibri"/>
              </a:rPr>
              <a:t>thể</a:t>
            </a:r>
            <a:r>
              <a:rPr sz="1150" b="0" i="0" dirty="0">
                <a:solidFill>
                  <a:srgbClr val="55635A"/>
                </a:solidFill>
                <a:latin typeface="Calibr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4343400"/>
            <a:ext cx="5669280" cy="868680"/>
          </a:xfrm>
          <a:prstGeom prst="roundRect">
            <a:avLst>
              <a:gd name="adj" fmla="val 6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445312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B84B3E"/>
                </a:solidFill>
                <a:latin typeface="Calibri"/>
              </a:rPr>
              <a:t>G12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727448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35A"/>
                </a:solidFill>
                <a:latin typeface="Calibri"/>
              </a:rPr>
              <a:t>Nhận lượt sửa sai nhưng chưa luôn thay thế đúng ý sai cũ (“low” vẫn giữ incorrect).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9120" y="480060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2A24"/>
                </a:solidFill>
                <a:latin typeface="Cambria"/>
              </a:rPr>
              <a:t>Validation người </a:t>
            </a:r>
            <a:r>
              <a:rPr sz="2800" b="1" i="0" dirty="0" err="1">
                <a:solidFill>
                  <a:srgbClr val="1F2A24"/>
                </a:solidFill>
                <a:latin typeface="Cambria"/>
              </a:rPr>
              <a:t>dùng</a:t>
            </a:r>
            <a:r>
              <a:rPr sz="2800" b="1" i="0" dirty="0">
                <a:solidFill>
                  <a:srgbClr val="1F2A24"/>
                </a:solidFill>
                <a:latin typeface="Cambria"/>
              </a:rPr>
              <a:t> </a:t>
            </a:r>
            <a:r>
              <a:rPr sz="2800" b="1" i="0" dirty="0" err="1">
                <a:solidFill>
                  <a:srgbClr val="1F2A24"/>
                </a:solidFill>
                <a:latin typeface="Cambria"/>
              </a:rPr>
              <a:t>thật</a:t>
            </a:r>
            <a:endParaRPr sz="2800" b="1" i="0" dirty="0">
              <a:solidFill>
                <a:srgbClr val="1F2A24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1" dirty="0">
                <a:solidFill>
                  <a:srgbClr val="55635A"/>
                </a:solidFill>
                <a:latin typeface="Calibri"/>
              </a:rPr>
              <a:t>Đã thử với 2 willing user khai </a:t>
            </a:r>
            <a:r>
              <a:rPr sz="1350" b="0" i="1" dirty="0" err="1">
                <a:solidFill>
                  <a:srgbClr val="55635A"/>
                </a:solidFill>
                <a:latin typeface="Calibri"/>
              </a:rPr>
              <a:t>từ</a:t>
            </a:r>
            <a:r>
              <a:rPr sz="1350" b="0" i="1" dirty="0">
                <a:solidFill>
                  <a:srgbClr val="55635A"/>
                </a:solidFill>
                <a:latin typeface="Calibri"/>
              </a:rPr>
              <a:t> CP1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2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77251"/>
            <a:ext cx="1051560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 dirty="0">
                <a:solidFill>
                  <a:srgbClr val="B87A1E"/>
                </a:solidFill>
                <a:latin typeface="Calibri"/>
              </a:rPr>
              <a:t>2 willing user thật đã dùng thử. </a:t>
            </a:r>
            <a:r>
              <a:rPr sz="1450" b="0" i="0" dirty="0">
                <a:solidFill>
                  <a:srgbClr val="1F2A24"/>
                </a:solidFill>
                <a:latin typeface="Calibri"/>
              </a:rPr>
              <a:t>Cả hai đều hiểu đúng câu hỏi ngược; phát hiện 1 vấn đề UI cần sửa trước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A24"/>
                </a:solidFill>
                <a:latin typeface="Cambria"/>
              </a:rPr>
              <a:t>Phát hiện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3611880" cy="1417320"/>
          </a:xfrm>
          <a:prstGeom prst="roundRect">
            <a:avLst>
              <a:gd name="adj" fmla="val 7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2278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D2B"/>
                </a:solidFill>
                <a:latin typeface="Calibri"/>
              </a:rPr>
              <a:t>Bảo — willing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55635A"/>
                </a:solidFill>
                <a:latin typeface="Calibri"/>
              </a:rPr>
              <a:t>Quote: “À tưởng đúng rồi, hoá ra thiếu ví dụ à” — do dự khi bị hỏi ngược thiếu “định nghĩa”, nhưng hiểu đúng câu hỏi.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063240"/>
            <a:ext cx="3611880" cy="1417320"/>
          </a:xfrm>
          <a:prstGeom prst="roundRect">
            <a:avLst>
              <a:gd name="adj" fmla="val 7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32278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D2B"/>
                </a:solidFill>
                <a:latin typeface="Calibri"/>
              </a:rPr>
              <a:t>Chính — willing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11880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55635A"/>
                </a:solidFill>
                <a:latin typeface="Calibri"/>
              </a:rPr>
              <a:t>Quote: “Cái đầu tiên nó feedback gì tôi không để ý, tưởng lỗi nên bấm lại” — gửi 2 lần liên tiếp vì không rõ hệ thống đang chấm.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063240"/>
            <a:ext cx="3611880" cy="1417320"/>
          </a:xfrm>
          <a:prstGeom prst="roundRect">
            <a:avLst>
              <a:gd name="adj" fmla="val 7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32278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B87A1E"/>
                </a:solidFill>
                <a:latin typeface="Calibri"/>
              </a:rPr>
              <a:t>Backlog trước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611880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55635A"/>
                </a:solidFill>
                <a:latin typeface="Calibri"/>
              </a:rPr>
              <a:t>Thêm trạng thái “đang chấm...” rõ ràng trên UI để chặn double-submit — phát hiện từ cả 2 người thử.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1064240" cy="1691640"/>
          </a:xfrm>
          <a:prstGeom prst="roundRect">
            <a:avLst>
              <a:gd name="adj" fmla="val 7000"/>
            </a:avLst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dirty="0" err="1">
                <a:solidFill>
                  <a:srgbClr val="E8A33D"/>
                </a:solidFill>
                <a:latin typeface="Cambria"/>
              </a:rPr>
              <a:t>Tín</a:t>
            </a:r>
            <a:r>
              <a:rPr sz="1350" b="1" i="0" dirty="0">
                <a:solidFill>
                  <a:srgbClr val="E8A33D"/>
                </a:solidFill>
                <a:latin typeface="Cambria"/>
              </a:rPr>
              <a:t> </a:t>
            </a:r>
            <a:r>
              <a:rPr sz="1350" b="1" i="0" dirty="0" err="1">
                <a:solidFill>
                  <a:srgbClr val="E8A33D"/>
                </a:solidFill>
                <a:latin typeface="Cambria"/>
              </a:rPr>
              <a:t>hiệu</a:t>
            </a:r>
            <a:r>
              <a:rPr sz="1350" b="1" i="0" dirty="0">
                <a:solidFill>
                  <a:srgbClr val="E8A33D"/>
                </a:solidFill>
                <a:latin typeface="Cambria"/>
              </a:rPr>
              <a:t> </a:t>
            </a:r>
            <a:r>
              <a:rPr sz="1350" b="1" i="0" dirty="0" err="1">
                <a:solidFill>
                  <a:srgbClr val="E8A33D"/>
                </a:solidFill>
                <a:latin typeface="Cambria"/>
              </a:rPr>
              <a:t>mở</a:t>
            </a:r>
            <a:r>
              <a:rPr sz="1350" b="1" i="0" dirty="0">
                <a:solidFill>
                  <a:srgbClr val="E8A33D"/>
                </a:solidFill>
                <a:latin typeface="Cambria"/>
              </a:rPr>
              <a:t> </a:t>
            </a:r>
            <a:r>
              <a:rPr sz="1350" b="1" i="0" dirty="0" err="1">
                <a:solidFill>
                  <a:srgbClr val="E8A33D"/>
                </a:solidFill>
                <a:latin typeface="Cambria"/>
              </a:rPr>
              <a:t>rộng</a:t>
            </a:r>
            <a:r>
              <a:rPr sz="1350" b="1" i="0" dirty="0">
                <a:solidFill>
                  <a:srgbClr val="E8A33D"/>
                </a:solidFill>
                <a:latin typeface="Cambria"/>
              </a:rPr>
              <a:t> — live smoke </a:t>
            </a:r>
            <a:r>
              <a:rPr sz="1350" b="1" i="0" dirty="0" err="1">
                <a:solidFill>
                  <a:srgbClr val="E8A33D"/>
                </a:solidFill>
                <a:latin typeface="Cambria"/>
              </a:rPr>
              <a:t>toàn</a:t>
            </a:r>
            <a:r>
              <a:rPr sz="1350" b="1" i="0" dirty="0">
                <a:solidFill>
                  <a:srgbClr val="E8A33D"/>
                </a:solidFill>
                <a:latin typeface="Cambria"/>
              </a:rPr>
              <a:t> </a:t>
            </a:r>
            <a:r>
              <a:rPr sz="1350" b="1" i="0" dirty="0" err="1">
                <a:solidFill>
                  <a:srgbClr val="E8A33D"/>
                </a:solidFill>
                <a:latin typeface="Cambria"/>
              </a:rPr>
              <a:t>thư</a:t>
            </a:r>
            <a:r>
              <a:rPr sz="1350" b="1" i="0" dirty="0">
                <a:solidFill>
                  <a:srgbClr val="E8A33D"/>
                </a:solidFill>
                <a:latin typeface="Cambria"/>
              </a:rPr>
              <a:t> </a:t>
            </a:r>
            <a:r>
              <a:rPr sz="1350" b="1" i="0" dirty="0" err="1">
                <a:solidFill>
                  <a:srgbClr val="E8A33D"/>
                </a:solidFill>
                <a:latin typeface="Cambria"/>
              </a:rPr>
              <a:t>viện</a:t>
            </a:r>
            <a:r>
              <a:rPr sz="1350" b="1" i="0" dirty="0">
                <a:solidFill>
                  <a:srgbClr val="E8A33D"/>
                </a:solidFill>
                <a:latin typeface="Cambria"/>
              </a:rPr>
              <a:t> </a:t>
            </a:r>
            <a:r>
              <a:rPr sz="1350" b="1" i="0" dirty="0" err="1">
                <a:solidFill>
                  <a:srgbClr val="E8A33D"/>
                </a:solidFill>
                <a:latin typeface="Cambria"/>
              </a:rPr>
              <a:t>bài</a:t>
            </a:r>
            <a:r>
              <a:rPr sz="1350" b="1" i="0" dirty="0">
                <a:solidFill>
                  <a:srgbClr val="E8A33D"/>
                </a:solidFill>
                <a:latin typeface="Cambria"/>
              </a:rPr>
              <a:t> </a:t>
            </a:r>
            <a:r>
              <a:rPr sz="1350" b="1" i="0" dirty="0" err="1">
                <a:solidFill>
                  <a:srgbClr val="E8A33D"/>
                </a:solidFill>
                <a:latin typeface="Cambria"/>
              </a:rPr>
              <a:t>học</a:t>
            </a:r>
            <a:endParaRPr sz="1350" b="1" i="0" dirty="0">
              <a:solidFill>
                <a:srgbClr val="E8A33D"/>
              </a:solidFill>
              <a:latin typeface="Cambri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138928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10/15 section đạt (66,7%)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5955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D9E8DC"/>
                </a:solidFill>
                <a:latin typeface="Calibri"/>
              </a:rPr>
              <a:t>2 lesson, 15 section, 46 </a:t>
            </a:r>
            <a:r>
              <a:rPr sz="1200" b="0" i="0" dirty="0" err="1">
                <a:solidFill>
                  <a:srgbClr val="D9E8DC"/>
                </a:solidFill>
                <a:latin typeface="Calibri"/>
              </a:rPr>
              <a:t>tiêu</a:t>
            </a:r>
            <a:r>
              <a:rPr sz="1200" b="0" i="0" dirty="0">
                <a:solidFill>
                  <a:srgbClr val="D9E8D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9E8DC"/>
                </a:solidFill>
                <a:latin typeface="Calibri"/>
              </a:rPr>
              <a:t>chí</a:t>
            </a:r>
            <a:r>
              <a:rPr sz="1200" b="0" i="0" dirty="0">
                <a:solidFill>
                  <a:srgbClr val="D9E8DC"/>
                </a:solidFill>
                <a:latin typeface="Calibri"/>
              </a:rPr>
              <a:t>; </a:t>
            </a:r>
            <a:r>
              <a:rPr sz="1200" b="0" i="0" dirty="0" err="1">
                <a:solidFill>
                  <a:srgbClr val="D9E8DC"/>
                </a:solidFill>
                <a:latin typeface="Calibri"/>
              </a:rPr>
              <a:t>gọi</a:t>
            </a:r>
            <a:r>
              <a:rPr sz="1200" b="0" i="0" dirty="0">
                <a:solidFill>
                  <a:srgbClr val="D9E8DC"/>
                </a:solidFill>
                <a:latin typeface="Calibri"/>
              </a:rPr>
              <a:t> model </a:t>
            </a:r>
            <a:r>
              <a:rPr sz="1200" b="0" i="0" dirty="0" err="1">
                <a:solidFill>
                  <a:srgbClr val="D9E8DC"/>
                </a:solidFill>
                <a:latin typeface="Calibri"/>
              </a:rPr>
              <a:t>thật</a:t>
            </a:r>
            <a:r>
              <a:rPr sz="1200" b="0" i="0" dirty="0">
                <a:solidFill>
                  <a:srgbClr val="D9E8DC"/>
                </a:solidFill>
                <a:latin typeface="Calibri"/>
              </a:rPr>
              <a:t> qua tools/smoke_all_lessons.py.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4360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 dirty="0">
                <a:solidFill>
                  <a:srgbClr val="D9E8DC"/>
                </a:solidFill>
                <a:latin typeface="Calibri"/>
              </a:rPr>
              <a:t>5 section </a:t>
            </a:r>
            <a:r>
              <a:rPr sz="1100" b="0" i="1" dirty="0" err="1">
                <a:solidFill>
                  <a:srgbClr val="D9E8DC"/>
                </a:solidFill>
                <a:latin typeface="Calibri"/>
              </a:rPr>
              <a:t>của</a:t>
            </a:r>
            <a:r>
              <a:rPr sz="1100" b="0" i="1" dirty="0">
                <a:solidFill>
                  <a:srgbClr val="D9E8DC"/>
                </a:solidFill>
                <a:latin typeface="Calibri"/>
              </a:rPr>
              <a:t> Day 2 (problem, pair, workflows, metrics, decision) </a:t>
            </a:r>
            <a:r>
              <a:rPr sz="1100" b="0" i="1" dirty="0" err="1">
                <a:solidFill>
                  <a:srgbClr val="D9E8DC"/>
                </a:solidFill>
                <a:latin typeface="Calibri"/>
              </a:rPr>
              <a:t>cần</a:t>
            </a:r>
            <a:r>
              <a:rPr sz="1100" b="0" i="1" dirty="0">
                <a:solidFill>
                  <a:srgbClr val="D9E8D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D9E8DC"/>
                </a:solidFill>
                <a:latin typeface="Calibri"/>
              </a:rPr>
              <a:t>rà</a:t>
            </a:r>
            <a:r>
              <a:rPr sz="1100" b="0" i="1" dirty="0">
                <a:solidFill>
                  <a:srgbClr val="D9E8D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D9E8DC"/>
                </a:solidFill>
                <a:latin typeface="Calibri"/>
              </a:rPr>
              <a:t>lại</a:t>
            </a:r>
            <a:r>
              <a:rPr sz="1100" b="0" i="1" dirty="0">
                <a:solidFill>
                  <a:srgbClr val="D9E8DC"/>
                </a:solidFill>
                <a:latin typeface="Calibri"/>
              </a:rPr>
              <a:t> rubric/evaluator </a:t>
            </a:r>
            <a:r>
              <a:rPr sz="1100" b="0" i="1" dirty="0" err="1">
                <a:solidFill>
                  <a:srgbClr val="D9E8DC"/>
                </a:solidFill>
                <a:latin typeface="Calibri"/>
              </a:rPr>
              <a:t>trước</a:t>
            </a:r>
            <a:r>
              <a:rPr sz="1100" b="0" i="1" dirty="0">
                <a:solidFill>
                  <a:srgbClr val="D9E8D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D9E8DC"/>
                </a:solidFill>
                <a:latin typeface="Calibri"/>
              </a:rPr>
              <a:t>khi</a:t>
            </a:r>
            <a:r>
              <a:rPr sz="1100" b="0" i="1" dirty="0">
                <a:solidFill>
                  <a:srgbClr val="D9E8D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D9E8DC"/>
                </a:solidFill>
                <a:latin typeface="Calibri"/>
              </a:rPr>
              <a:t>mở</a:t>
            </a:r>
            <a:r>
              <a:rPr sz="1100" b="0" i="1" dirty="0">
                <a:solidFill>
                  <a:srgbClr val="D9E8D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D9E8DC"/>
                </a:solidFill>
                <a:latin typeface="Calibri"/>
              </a:rPr>
              <a:t>rộng</a:t>
            </a:r>
            <a:r>
              <a:rPr sz="1100" b="0" i="1" dirty="0">
                <a:solidFill>
                  <a:srgbClr val="D9E8D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D9E8DC"/>
                </a:solidFill>
                <a:latin typeface="Calibri"/>
              </a:rPr>
              <a:t>ra</a:t>
            </a:r>
            <a:r>
              <a:rPr sz="1100" b="0" i="1" dirty="0">
                <a:solidFill>
                  <a:srgbClr val="D9E8D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D9E8DC"/>
                </a:solidFill>
                <a:latin typeface="Calibri"/>
              </a:rPr>
              <a:t>toàn</a:t>
            </a:r>
            <a:r>
              <a:rPr sz="1100" b="0" i="1" dirty="0">
                <a:solidFill>
                  <a:srgbClr val="D9E8D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D9E8DC"/>
                </a:solidFill>
                <a:latin typeface="Calibri"/>
              </a:rPr>
              <a:t>thư</a:t>
            </a:r>
            <a:r>
              <a:rPr sz="1100" b="0" i="1" dirty="0">
                <a:solidFill>
                  <a:srgbClr val="D9E8D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D9E8DC"/>
                </a:solidFill>
                <a:latin typeface="Calibri"/>
              </a:rPr>
              <a:t>viện</a:t>
            </a:r>
            <a:r>
              <a:rPr sz="1100" b="0" i="1" dirty="0">
                <a:solidFill>
                  <a:srgbClr val="D9E8DC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Nếu có thêm 1 tuần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538728" cy="2286000"/>
          </a:xfrm>
          <a:prstGeom prst="roundRect">
            <a:avLst>
              <a:gd name="adj" fmla="val 8000"/>
            </a:avLst>
          </a:prstGeom>
          <a:solidFill>
            <a:srgbClr val="2A4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F3D2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0815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Cambria"/>
              </a:rPr>
              <a:t>Sửa evaluator bỏ sót tiêu chí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308152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E8DC"/>
                </a:solidFill>
                <a:latin typeface="Calibri"/>
              </a:rPr>
              <a:t>Khi một câu trả lời gộp nhiều ý cùng lúc (G06) — lỗi coverage ảnh hưởng trực tiếp quality bar.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1417320"/>
            <a:ext cx="3538728" cy="2286000"/>
          </a:xfrm>
          <a:prstGeom prst="roundRect">
            <a:avLst>
              <a:gd name="adj" fmla="val 8000"/>
            </a:avLst>
          </a:prstGeom>
          <a:solidFill>
            <a:srgbClr val="2A4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35424" y="164592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1645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F3D2B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86000"/>
            <a:ext cx="30815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Cambria"/>
              </a:rPr>
              <a:t>Log raw response khi lỗi cấu trúc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926080"/>
            <a:ext cx="308152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E8DC"/>
                </a:solidFill>
                <a:latin typeface="Calibri"/>
              </a:rPr>
              <a:t>Sau retry (G07) — hiện chưa đủ log để xác định field cụ thể gây lỗi.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417320"/>
            <a:ext cx="3538728" cy="2286000"/>
          </a:xfrm>
          <a:prstGeom prst="roundRect">
            <a:avLst>
              <a:gd name="adj" fmla="val 8000"/>
            </a:avLst>
          </a:prstGeom>
          <a:solidFill>
            <a:srgbClr val="2A4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93608" y="164592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645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F3D2B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286000"/>
            <a:ext cx="30815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Cambria"/>
              </a:rPr>
              <a:t>Rà lại rubric Day 2 trước khi mở rộng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926080"/>
            <a:ext cx="308152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E8DC"/>
                </a:solidFill>
                <a:latin typeface="Calibri"/>
              </a:rPr>
              <a:t>5/15 section fail trong live smoke — cần ổn định trước khi đưa ra toàn thư viện bài học.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2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87A1E"/>
                </a:solidFill>
                <a:latin typeface="Calibri"/>
              </a:rPr>
              <a:t>BÀI HỌC LỚN NHẤT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F3D2B"/>
                </a:solidFill>
                <a:latin typeface="Cambria"/>
              </a:rPr>
              <a:t>Chấm bằng LLM ổn định với câu trả lời đơn giản, nhưng dễ vỡ khi một câu trả lời gộp nhiều ý cùng lúc — cần một lượt kiểm tra thứ hai chắc hơn, không chỉ dựa vào một lần gọi model.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8F71"/>
                </a:solidFill>
                <a:latin typeface="Calibri"/>
              </a:rPr>
              <a:t>TeachBack · Nhóm toibingu · Lớp 3B — Phòng E403 — Cụm 6  ·  Trần Hữu Đức · Lê Quang Ngọc · Doãn Hữu Nguyên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B8F71"/>
                </a:solidFill>
                <a:latin typeface="Calibri"/>
              </a:rPr>
              <a:t>Track D3 — Học tập thích ứng &amp; tương tác  ·  repo: K4-3B-E403-toibingu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1124</Words>
  <Application>Microsoft Office PowerPoint</Application>
  <PresentationFormat>Widescreen</PresentationFormat>
  <Paragraphs>103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Duc Tran Huu</dc:creator>
  <cp:keywords/>
  <dc:description>generated using python-pptx</dc:description>
  <cp:lastModifiedBy>Trần Hữu Đức</cp:lastModifiedBy>
  <cp:revision>4</cp:revision>
  <dcterms:created xsi:type="dcterms:W3CDTF">2013-01-27T09:14:16Z</dcterms:created>
  <dcterms:modified xsi:type="dcterms:W3CDTF">2026-09-18T16:34:56Z</dcterms:modified>
  <cp:category/>
</cp:coreProperties>
</file>